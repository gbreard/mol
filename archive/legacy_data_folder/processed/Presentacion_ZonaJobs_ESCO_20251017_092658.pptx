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Análisis de Ofertas Laborales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DCFF"/>
                </a:solidFill>
              </a:defRPr>
            </a:pPr>
            <a:r>
              <a:t>ZonaJobs.com.ar + Taxonomía ESCO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61 Ofertas Analizadas | 73.8% Clasificadas</a:t>
            </a:r>
          </a:p>
          <a:p>
            <a:pPr algn="ctr"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Período: Agosto - Octubre 2025</a:t>
            </a:r>
          </a:p>
          <a:p>
            <a:pPr algn="ctr"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OEDE - Observatorio de Empleo y Dinámica Empresarial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Clasificación con Taxonomía ESCO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CF0FF"/>
                </a:solidFill>
              </a:defRPr>
            </a:pPr>
            <a:r>
              <a:t>Análisis de ocupaciones, grupos ISCO y calidad de matching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Top 15 Ocupaciones ESCO Identificadas</a:t>
            </a:r>
          </a:p>
        </p:txBody>
      </p:sp>
      <p:pic>
        <p:nvPicPr>
          <p:cNvPr id="3" name="Picture 2" descr="01_top_ocup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67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37 ocupaciones únicas identificadas en el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Distribución por Grupos ISCO (2 dígitos)</a:t>
            </a:r>
          </a:p>
        </p:txBody>
      </p:sp>
      <p:pic>
        <p:nvPicPr>
          <p:cNvPr id="3" name="Picture 2" descr="02_distribucion_is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61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8 grupos principales representados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Distribución por Grupos ISCO (1 dígito)</a:t>
            </a:r>
          </a:p>
        </p:txBody>
      </p:sp>
      <p:pic>
        <p:nvPicPr>
          <p:cNvPr id="3" name="Picture 2" descr="07_isco_grupos_princip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555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Predominio de profesionales científicos y técnicos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Tasa de Clasificación Exitosa</a:t>
            </a:r>
          </a:p>
        </p:txBody>
      </p:sp>
      <p:pic>
        <p:nvPicPr>
          <p:cNvPr id="3" name="Picture 2" descr="06_tasa_clasific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6305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73.8% de ofertas clasificadas con ESCO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Calidad del Matching Semántico</a:t>
            </a:r>
          </a:p>
        </p:txBody>
      </p:sp>
      <p:pic>
        <p:nvPicPr>
          <p:cNvPr id="3" name="Picture 2" descr="03_distribucion_similit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4852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Similitud promedio: 0.537, con 2 matches perfectos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Skills y Competencias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CF0FF"/>
                </a:solidFill>
              </a:defRPr>
            </a:pPr>
            <a:r>
              <a:t>Análisis de habilidades demandadas en las ofertas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Top 15 Skills Más Demandadas</a:t>
            </a:r>
          </a:p>
        </p:txBody>
      </p:sp>
      <p:pic>
        <p:nvPicPr>
          <p:cNvPr id="3" name="Picture 2" descr="04_top_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702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82.2% de ofertas enriquecidas con skills esenciales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Distribución de Skills por Oferta</a:t>
            </a:r>
          </a:p>
        </p:txBody>
      </p:sp>
      <p:pic>
        <p:nvPicPr>
          <p:cNvPr id="3" name="Picture 2" descr="08_skills_por_ofer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9017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Promedio: 2.9 skills esenciales por oferta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Modalidad de Trabajo y Distribución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CF0FF"/>
                </a:solidFill>
              </a:defRPr>
            </a:pPr>
            <a:r>
              <a:t>Análisis de modalidades laborales y ubicación geográfica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Distribución por Modalidad de Trabajo</a:t>
            </a:r>
          </a:p>
        </p:txBody>
      </p:sp>
      <p:pic>
        <p:nvPicPr>
          <p:cNvPr id="3" name="Picture 2" descr="05_modalidad_traba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5787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78.7% presencial, 21.3% híbrido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Distribución Geográfica de Ofertas</a:t>
            </a:r>
          </a:p>
        </p:txBody>
      </p:sp>
      <p:pic>
        <p:nvPicPr>
          <p:cNvPr id="3" name="Picture 2" descr="09_distribucion_geograf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5787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Análisis por ubicación de las ofertas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Top Empresas con Más Ofertas</a:t>
            </a:r>
          </a:p>
        </p:txBody>
      </p:sp>
      <p:pic>
        <p:nvPicPr>
          <p:cNvPr id="3" name="Picture 2" descr="10_top_empres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62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Empresas más activas en publicación de ofertas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Análisis Temporal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CF0FF"/>
                </a:solidFill>
              </a:defRPr>
            </a:pPr>
            <a:r>
              <a:t>Evolución de ofertas en el tiempo (Agosto - Octubre 2025)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Serie Temporal Diaria de Ofertas</a:t>
            </a:r>
          </a:p>
        </p:txBody>
      </p:sp>
      <p:pic>
        <p:nvPicPr>
          <p:cNvPr id="3" name="Picture 2" descr="09_serie_temporal_di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053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Promedio: 1.91 ofertas/día, Máximo: 4 ofertas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Serie Temporal Semanal de Ofertas</a:t>
            </a:r>
          </a:p>
        </p:txBody>
      </p:sp>
      <p:pic>
        <p:nvPicPr>
          <p:cNvPr id="3" name="Picture 2" descr="10_serie_temporal_sema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4931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Promedio: 6.78 ofertas/semana, Pico en semana 34 (12 ofertas)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Serie Diaria por Grupo Ocupacional ISCO</a:t>
            </a:r>
          </a:p>
        </p:txBody>
      </p:sp>
      <p:pic>
        <p:nvPicPr>
          <p:cNvPr id="3" name="Picture 2" descr="11_serie_diaria_isco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571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Composición ocupacional estable a lo largo del tiempo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Serie Semanal por Grupo Ocupacional ISCO</a:t>
            </a:r>
          </a:p>
        </p:txBody>
      </p:sp>
      <p:pic>
        <p:nvPicPr>
          <p:cNvPr id="3" name="Picture 2" descr="12_serie_semanal_isco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088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Mayor diversidad en semanas de alto volumen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</a:defRPr>
            </a:pPr>
            <a:r>
              <a:t>Distribución por Día de Semana y Mes</a:t>
            </a:r>
          </a:p>
        </p:txBody>
      </p:sp>
      <p:pic>
        <p:nvPicPr>
          <p:cNvPr id="3" name="Picture 2" descr="13_heatmap_dia_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2364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Miércoles: día más activo (33% de ofertas)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3A8A"/>
                </a:solidFill>
              </a:defRPr>
            </a:pPr>
            <a:r>
              <a:t>Conclusiones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defRPr sz="1400">
                <a:solidFill>
                  <a:srgbClr val="323232"/>
                </a:solidFill>
              </a:defRPr>
            </a:pPr>
            <a:r>
              <a:t>73.8% de ofertas clasificadas exitosamente con taxonomía ESCO</a:t>
            </a:r>
          </a:p>
          <a:p>
            <a:pPr>
              <a:lnSpc>
                <a:spcPct val="120000"/>
              </a:lnSpc>
              <a:spcBef>
                <a:spcPts val="800"/>
              </a:spcBef>
              <a:defRPr sz="1400">
                <a:solidFill>
                  <a:srgbClr val="323232"/>
                </a:solidFill>
              </a:defRPr>
            </a:pPr>
            <a:r>
              <a:t>Predominio de profesionales científicos (26.7%) y técnicos (22.2%)</a:t>
            </a:r>
          </a:p>
          <a:p>
            <a:pPr>
              <a:lnSpc>
                <a:spcPct val="120000"/>
              </a:lnSpc>
              <a:spcBef>
                <a:spcPts val="800"/>
              </a:spcBef>
              <a:defRPr sz="1400">
                <a:solidFill>
                  <a:srgbClr val="323232"/>
                </a:solidFill>
              </a:defRPr>
            </a:pPr>
            <a:r>
              <a:t>Miércoles es el día más activo para publicación de ofertas (33%)</a:t>
            </a:r>
          </a:p>
          <a:p>
            <a:pPr>
              <a:lnSpc>
                <a:spcPct val="120000"/>
              </a:lnSpc>
              <a:spcBef>
                <a:spcPts val="800"/>
              </a:spcBef>
              <a:defRPr sz="1400">
                <a:solidFill>
                  <a:srgbClr val="323232"/>
                </a:solidFill>
              </a:defRPr>
            </a:pPr>
            <a:r>
              <a:t>Septiembre mostró el mayor volumen de ofertas (47.5% del total)</a:t>
            </a:r>
          </a:p>
          <a:p>
            <a:pPr>
              <a:lnSpc>
                <a:spcPct val="120000"/>
              </a:lnSpc>
              <a:spcBef>
                <a:spcPts val="800"/>
              </a:spcBef>
              <a:defRPr sz="1400">
                <a:solidFill>
                  <a:srgbClr val="323232"/>
                </a:solidFill>
              </a:defRPr>
            </a:pPr>
            <a:r>
              <a:t>100% de ofertas clasificadas tienen código ISCO asignado</a:t>
            </a:r>
          </a:p>
          <a:p>
            <a:pPr>
              <a:lnSpc>
                <a:spcPct val="120000"/>
              </a:lnSpc>
              <a:spcBef>
                <a:spcPts val="800"/>
              </a:spcBef>
              <a:defRPr sz="1400">
                <a:solidFill>
                  <a:srgbClr val="323232"/>
                </a:solidFill>
              </a:defRPr>
            </a:pPr>
            <a:r>
              <a:t>Similitud promedio de matching: 0.537 (con 2 matches perfectos)</a:t>
            </a:r>
          </a:p>
          <a:p>
            <a:pPr>
              <a:lnSpc>
                <a:spcPct val="120000"/>
              </a:lnSpc>
              <a:spcBef>
                <a:spcPts val="800"/>
              </a:spcBef>
              <a:defRPr sz="1400">
                <a:solidFill>
                  <a:srgbClr val="323232"/>
                </a:solidFill>
              </a:defRPr>
            </a:pPr>
            <a:r>
              <a:t>Mayor demanda de skills administrativo-contables y sanitarias</a:t>
            </a:r>
          </a:p>
          <a:p>
            <a:pPr>
              <a:lnSpc>
                <a:spcPct val="120000"/>
              </a:lnSpc>
              <a:spcBef>
                <a:spcPts val="800"/>
              </a:spcBef>
              <a:defRPr sz="1400">
                <a:solidFill>
                  <a:srgbClr val="323232"/>
                </a:solidFill>
              </a:defRPr>
            </a:pPr>
            <a:r>
              <a:t>Patrón claro: publicación concentrada en primera mitad de semana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4800" b="1">
                <a:solidFill>
                  <a:srgbClr val="FFFFFF"/>
                </a:solidFill>
              </a:defRPr>
            </a:pPr>
            <a:r>
              <a:t>¡Gracias!</a:t>
            </a:r>
          </a:p>
          <a:p>
            <a:pPr algn="ctr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</a:p>
          <a:p>
            <a:pPr algn="ctr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Proyecto: Web Scraping ZonaJobs + ESCO</a:t>
            </a:r>
          </a:p>
          <a:p>
            <a:pPr algn="ctr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OEDE - Observatorio de Empleo y Dinámica Empresarial</a:t>
            </a:r>
          </a:p>
          <a:p>
            <a:pPr algn="ctr"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Fecha: October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